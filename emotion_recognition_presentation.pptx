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SPEECH EMOTION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B0B0B"/>
                </a:solidFill>
                <a:latin typeface="Calibri"/>
              </a:rPr>
              <a:t>Fine-tuning Self-Supervised Audio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B0B0B"/>
                </a:solidFill>
                <a:latin typeface="Calibri"/>
              </a:rPr>
              <a:t>Transformers for Emotion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A comparative study across 7 pretrained speech models and 2 emotion-speech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617720"/>
            <a:ext cx="1097280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Aatman Vaidya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937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Calibri"/>
              </a:rPr>
              <a:t>Audio Signal Processing —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Why Speech Emotion Recognition?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>
                <a:solidFill>
                  <a:srgbClr val="0B0B0B"/>
                </a:solidFill>
                <a:latin typeface="Calibri"/>
              </a:rPr>
              <a:t>Speech carries emotional information beyond words — pitch, energy, and rhythm encode affect that text transcripts discard.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>
                <a:solidFill>
                  <a:srgbClr val="0B0B0B"/>
                </a:solidFill>
                <a:latin typeface="Calibri"/>
              </a:rPr>
              <a:t>Applications: call-center analytics, mental-health monitoring, human-robot interaction, adaptive voice assistants.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>
                <a:solidFill>
                  <a:srgbClr val="0B0B0B"/>
                </a:solidFill>
                <a:latin typeface="Calibri"/>
              </a:rPr>
              <a:t>Core challenge</a:t>
            </a:r>
          </a:p>
          <a:p>
            <a:pPr lvl="1"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898781"/>
                </a:solidFill>
                <a:latin typeface="Calibri"/>
              </a:rPr>
              <a:t>–  </a:t>
            </a:r>
            <a:r>
              <a:rPr sz="1400">
                <a:solidFill>
                  <a:srgbClr val="0B0B0B"/>
                </a:solidFill>
                <a:latin typeface="Calibri"/>
              </a:rPr>
              <a:t>Emotion is expressed differently across speakers, languages, and recording conditions</a:t>
            </a:r>
          </a:p>
          <a:p>
            <a:pPr lvl="1"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898781"/>
                </a:solidFill>
                <a:latin typeface="Calibri"/>
              </a:rPr>
              <a:t>–  </a:t>
            </a:r>
            <a:r>
              <a:rPr sz="1400">
                <a:solidFill>
                  <a:srgbClr val="0B0B0B"/>
                </a:solidFill>
                <a:latin typeface="Calibri"/>
              </a:rPr>
              <a:t>Labeled emotional speech datasets are small compared to ASR corpora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>
                <a:solidFill>
                  <a:srgbClr val="0B0B0B"/>
                </a:solidFill>
                <a:latin typeface="Calibri"/>
              </a:rPr>
              <a:t>Our approach</a:t>
            </a:r>
          </a:p>
          <a:p>
            <a:pPr lvl="1"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898781"/>
                </a:solidFill>
                <a:latin typeface="Calibri"/>
              </a:rPr>
              <a:t>–  </a:t>
            </a:r>
            <a:r>
              <a:rPr sz="1400">
                <a:solidFill>
                  <a:srgbClr val="0B0B0B"/>
                </a:solidFill>
                <a:latin typeface="Calibri"/>
              </a:rPr>
              <a:t>Leverage large self-supervised speech models (wav2vec2, HuBERT, WavLM) pretrained on unlabeled audio</a:t>
            </a:r>
          </a:p>
          <a:p>
            <a:pPr lvl="1"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898781"/>
                </a:solidFill>
                <a:latin typeface="Calibri"/>
              </a:rPr>
              <a:t>–  </a:t>
            </a:r>
            <a:r>
              <a:rPr sz="1400">
                <a:solidFill>
                  <a:srgbClr val="0B0B0B"/>
                </a:solidFill>
                <a:latin typeface="Calibri"/>
              </a:rPr>
              <a:t>Fine-tune a classification head on each emotion dataset</a:t>
            </a:r>
          </a:p>
          <a:p>
            <a:pPr lvl="1"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898781"/>
                </a:solidFill>
                <a:latin typeface="Calibri"/>
              </a:rPr>
              <a:t>–  </a:t>
            </a:r>
            <a:r>
              <a:rPr sz="1400">
                <a:solidFill>
                  <a:srgbClr val="0B0B0B"/>
                </a:solidFill>
                <a:latin typeface="Calibri"/>
              </a:rPr>
              <a:t>Compare 7 model variants across 2 benchmark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5120640" cy="434340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PROJECT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231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3AA7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49631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pretrained speech models fine-tuned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375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3AA7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41071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benchmark emotion-speech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519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3AA7"/>
                </a:solidFill>
                <a:latin typeface="Calibr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32511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model × dataset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1663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3AA7"/>
                </a:solidFill>
                <a:latin typeface="Calibri"/>
              </a:rPr>
              <a:t>0.99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23951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best F1-macro achieved (WavLM-large on EMO-DB)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Speech Emotion Recognition — Fine-tuning Self-Supervised Audio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Two Complementary Emotion-Speech Corpora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349240" cy="44348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349240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RAVDESS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7091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1,440 audio clips — 24 professional actors (12F / 12M)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North American English, acted, studio-quality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8 emotion classes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898781"/>
                </a:solidFill>
                <a:latin typeface="Calibri"/>
              </a:rPr>
              <a:t>–  </a:t>
            </a:r>
            <a:r>
              <a:rPr sz="1250">
                <a:solidFill>
                  <a:srgbClr val="0B0B0B"/>
                </a:solidFill>
                <a:latin typeface="Calibri"/>
              </a:rPr>
              <a:t>neutral, calm, happy, sad, angry, fearful, disgust, surprised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898781"/>
                </a:solidFill>
                <a:latin typeface="Calibri"/>
              </a:rPr>
              <a:t>–  </a:t>
            </a:r>
            <a:r>
              <a:rPr sz="1250">
                <a:solidFill>
                  <a:srgbClr val="0B0B0B"/>
                </a:solidFill>
                <a:latin typeface="Calibri"/>
              </a:rPr>
              <a:t>Balanced: 192 clips/class (96 for neutral)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Song + speech statements, 2 fixed sentences repeated across actors/intensities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5349240" cy="44348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34924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EMO-DB (Berlin)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7091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BAF7A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535 audio clips — 10 German actors (5F / 5M)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BAF7A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German, acted, studio-quality, smaller &amp; more imbalanced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BAF7A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7 emotion classes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898781"/>
                </a:solidFill>
                <a:latin typeface="Calibri"/>
              </a:rPr>
              <a:t>–  </a:t>
            </a:r>
            <a:r>
              <a:rPr sz="1250">
                <a:solidFill>
                  <a:srgbClr val="0B0B0B"/>
                </a:solidFill>
                <a:latin typeface="Calibri"/>
              </a:rPr>
              <a:t>anger, boredom, disgust, fear, happiness, neutral, sadness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898781"/>
                </a:solidFill>
                <a:latin typeface="Calibri"/>
              </a:rPr>
              <a:t>–  </a:t>
            </a:r>
            <a:r>
              <a:rPr sz="1250">
                <a:solidFill>
                  <a:srgbClr val="0B0B0B"/>
                </a:solidFill>
                <a:latin typeface="Calibri"/>
              </a:rPr>
              <a:t>Ranges 46–127 clips/class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1BAF7A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10 fixed emotionally-neutral sentences spoken in each emotion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Speech Emotion Recognition — Fine-tuning Self-Supervised Audio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End-to-End Fine-Tuning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086660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83664"/>
            <a:ext cx="20866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086660" cy="16916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18672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Calibri"/>
              </a:rPr>
              <a:t>Load &amp;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88920"/>
            <a:ext cx="18672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Stratified 70 / 15 / 15 train-val-test split per dataset (seed=42)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5300" y="19659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9892" y="1828800"/>
            <a:ext cx="2086660" cy="4572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9892" y="1883664"/>
            <a:ext cx="20866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9892" y="2286000"/>
            <a:ext cx="2086660" cy="16916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9620" y="2395728"/>
            <a:ext cx="18672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Calibri"/>
              </a:rPr>
              <a:t>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9620" y="2788920"/>
            <a:ext cx="18672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Resample to 16 kHz, pad/truncate to 5s, extract model-specific input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6552" y="19659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1144" y="1828800"/>
            <a:ext cx="2086660" cy="4572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1144" y="1883664"/>
            <a:ext cx="20866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1144" y="2286000"/>
            <a:ext cx="2086660" cy="16916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0872" y="2395728"/>
            <a:ext cx="18672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Calibri"/>
              </a:rPr>
              <a:t>HPO (Optuna)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0872" y="2788920"/>
            <a:ext cx="18672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10 trials × 3 epochs search over LR, batch size, warmup, weight decay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7804" y="19659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2396" y="1828800"/>
            <a:ext cx="2086660" cy="4572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02396" y="1883664"/>
            <a:ext cx="20866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2396" y="2286000"/>
            <a:ext cx="2086660" cy="16916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2124" y="2395728"/>
            <a:ext cx="18672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Calibri"/>
              </a:rPr>
              <a:t>Fine-tune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2124" y="2788920"/>
            <a:ext cx="18672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Up to 30 epochs, early stopping (patience=5), best hyperparameters from HPO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9056" y="19659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3648" y="1828800"/>
            <a:ext cx="2086660" cy="45720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3648" y="1883664"/>
            <a:ext cx="20866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3648" y="2286000"/>
            <a:ext cx="2086660" cy="16916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3376" y="2395728"/>
            <a:ext cx="18672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Calibri"/>
              </a:rPr>
              <a:t>Evaluate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2788920"/>
            <a:ext cx="18672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Held-out test set: accuracy, precision/recall/F1 (macro &amp; weighted)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MODELS FINE-TUNED (7)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1772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50" b="1">
                <a:solidFill>
                  <a:srgbClr val="0B0B0B"/>
                </a:solidFill>
                <a:latin typeface="Calibri"/>
              </a:rPr>
              <a:t>distilhubert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03704" y="461772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50" b="1">
                <a:solidFill>
                  <a:srgbClr val="0B0B0B"/>
                </a:solidFill>
                <a:latin typeface="Calibri"/>
              </a:rPr>
              <a:t>wav2vec2-base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63924" y="4617720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50" b="1">
                <a:solidFill>
                  <a:srgbClr val="0B0B0B"/>
                </a:solidFill>
                <a:latin typeface="Calibri"/>
              </a:rPr>
              <a:t>wav2vec2-large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9300" y="461772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50" b="1">
                <a:solidFill>
                  <a:srgbClr val="0B0B0B"/>
                </a:solidFill>
                <a:latin typeface="Calibri"/>
              </a:rPr>
              <a:t>hubert-base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79208" y="461772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50" b="1">
                <a:solidFill>
                  <a:srgbClr val="0B0B0B"/>
                </a:solidFill>
                <a:latin typeface="Calibri"/>
              </a:rPr>
              <a:t>hubert-xlarge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39428" y="461772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50" b="1">
                <a:solidFill>
                  <a:srgbClr val="0B0B0B"/>
                </a:solidFill>
                <a:latin typeface="Calibri"/>
              </a:rPr>
              <a:t>wavlm-base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84180" y="461772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50" b="1">
                <a:solidFill>
                  <a:srgbClr val="0B0B0B"/>
                </a:solidFill>
                <a:latin typeface="Calibri"/>
              </a:rPr>
              <a:t>wavlm-large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257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898781"/>
                </a:solidFill>
                <a:latin typeface="Calibri"/>
              </a:rPr>
              <a:t>▪  </a:t>
            </a:r>
            <a:r>
              <a:rPr sz="1300">
                <a:solidFill>
                  <a:srgbClr val="52514E"/>
                </a:solidFill>
                <a:latin typeface="Calibri"/>
              </a:rPr>
              <a:t>All pretrained on ~960h LibriSpeech / large-scale unlabeled speech; fine-tuned end-to-end via HuggingFace AutoModelForAudioClassification with a linear classification head.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Speech Emotion Recognition — Fine-tuning Self-Supervised Audio Models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F1-Macro Across Models &amp;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73152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25880"/>
                <a:gridCol w="1325880"/>
                <a:gridCol w="1325880"/>
                <a:gridCol w="1325880"/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1600" marR="101600" marT="50800" marB="50800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EMO-DB — Acc.</a:t>
                      </a:r>
                    </a:p>
                  </a:txBody>
                  <a:tcPr marL="101600" marR="101600" marT="50800" marB="50800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EMO-DB — F1 (macro)</a:t>
                      </a:r>
                    </a:p>
                  </a:txBody>
                  <a:tcPr marL="101600" marR="101600" marT="50800" marB="50800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RAVDESS — Acc.</a:t>
                      </a:r>
                    </a:p>
                  </a:txBody>
                  <a:tcPr marL="101600" marR="101600" marT="50800" marB="50800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RAVDESS — F1 (macro)</a:t>
                      </a:r>
                    </a:p>
                  </a:txBody>
                  <a:tcPr marL="101600" marR="101600" marT="50800" marB="50800" anchor="ctr">
                    <a:solidFill>
                      <a:srgbClr val="2A78D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distilhubert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0.8272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0.8199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0.7963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0.7862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hubert-base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0.9383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0.9430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0.8426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0.8133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hubert-xlarge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0.9136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0.9157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0.9028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0.9006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wav2vec2-base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0.9383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0.9377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0.8981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0.8951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wav2vec2-large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0.8395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0.8164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0.8796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0.8700</a:t>
                      </a:r>
                    </a:p>
                  </a:txBody>
                  <a:tcPr marL="101600" marR="101600" marT="50800" marB="50800" anchor="ctr">
                    <a:solidFill>
                      <a:srgbClr val="F9F9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wavlm-base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0.9630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0.9656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0.8704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0.8642</a:t>
                      </a:r>
                    </a:p>
                  </a:txBody>
                  <a:tcPr marL="101600" marR="101600" marT="50800" marB="5080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wavlm-large</a:t>
                      </a:r>
                    </a:p>
                  </a:txBody>
                  <a:tcPr marL="101600" marR="101600" marT="50800" marB="50800" anchor="ctr"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0.9877</a:t>
                      </a:r>
                    </a:p>
                  </a:txBody>
                  <a:tcPr marL="101600" marR="101600" marT="50800" marB="50800" anchor="ctr"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0.9863</a:t>
                      </a:r>
                    </a:p>
                  </a:txBody>
                  <a:tcPr marL="101600" marR="101600" marT="50800" marB="50800" anchor="ctr"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0.8981</a:t>
                      </a:r>
                    </a:p>
                  </a:txBody>
                  <a:tcPr marL="101600" marR="101600" marT="50800" marB="50800" anchor="ctr"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0.8898</a:t>
                      </a:r>
                    </a:p>
                  </a:txBody>
                  <a:tcPr marL="101600" marR="101600" marT="50800" marB="50800" anchor="ctr"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6916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F1-MACRO BY MODEL</a:t>
            </a:r>
          </a:p>
        </p:txBody>
      </p:sp>
      <p:pic>
        <p:nvPicPr>
          <p:cNvPr id="7" name="Picture 6" descr="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965960"/>
            <a:ext cx="7991353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898781"/>
                </a:solidFill>
                <a:latin typeface="Calibri"/>
              </a:rPr>
              <a:t>▪  </a:t>
            </a:r>
            <a:r>
              <a:rPr sz="1250">
                <a:solidFill>
                  <a:srgbClr val="52514E"/>
                </a:solidFill>
                <a:latin typeface="Calibri"/>
              </a:rPr>
              <a:t>WavLM-large is the top performer on both datasets; distilhubert (smallest model) is weakest on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Speech Emotion Recognition — Fine-tuning Self-Supervised Audio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Key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394960" cy="196596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73152" cy="196596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Larger ≠ always better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wav2vec2-large underperforms wav2vec2-base on EMO-DB (F1 0.816 vs 0.938) — more parameters don't guarantee better fine-tuning on small datasets.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5394960" cy="196596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73152" cy="1965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2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WavLM is the strongest 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50008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wavlm-large tops EMO-DB (F1=0.986) and is competitive on RAVDESS (F1=0.890); its noise-robust pretraining (denoising + speaker overlap) seems to transfer well to prosodic emotion cues.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5394960" cy="196596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73152" cy="19659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EMO-DB scores higher than RAVDESS overall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44568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Despite being 3× smaller, most models fit EMO-DB better — fewer classes (7 vs 8), and "calm" in RAVDESS has no EMO-DB analogue and is acoustically close to neutral.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394960" cy="196596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886200"/>
            <a:ext cx="73152" cy="1965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distilhubert is the efficiency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44568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Consistently the weakest model on both datasets (F1 0.82 / 0.79) — expected, as it is a distilled, much smaller checkpoint than the others.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Speech Emotion Recognition — Fine-tuning Self-Supervised Audio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Best Case — WavLM-large on EMO-DB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6007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691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A3AA7"/>
                </a:solidFill>
                <a:latin typeface="Calibri"/>
              </a:rPr>
              <a:t>F1-macro = 0.986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A3AA7"/>
                </a:solidFill>
                <a:latin typeface="Calibri"/>
              </a:rPr>
              <a:t>▪  </a:t>
            </a:r>
            <a:r>
              <a:rPr sz="1500">
                <a:solidFill>
                  <a:srgbClr val="0B0B0B"/>
                </a:solidFill>
                <a:latin typeface="Calibri"/>
              </a:rPr>
              <a:t>Near-perfect diagonal — 5 of 7 classes classified with zero errors on the test set (81 clips).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A3AA7"/>
                </a:solidFill>
                <a:latin typeface="Calibri"/>
              </a:rPr>
              <a:t>▪  </a:t>
            </a:r>
            <a:r>
              <a:rPr sz="1500">
                <a:solidFill>
                  <a:srgbClr val="0B0B0B"/>
                </a:solidFill>
                <a:latin typeface="Calibri"/>
              </a:rPr>
              <a:t>Only confusion: 1 "boredom" clip misclassified as "sadness" — both are low-arousal, low-valence emotions with similar flat prosody and slow speech rate.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A3AA7"/>
                </a:solidFill>
                <a:latin typeface="Calibri"/>
              </a:rPr>
              <a:t>▪  </a:t>
            </a:r>
            <a:r>
              <a:rPr sz="1500">
                <a:solidFill>
                  <a:srgbClr val="0B0B0B"/>
                </a:solidFill>
                <a:latin typeface="Calibri"/>
              </a:rPr>
              <a:t>EMO-DB's small, controlled recording setup (10 actors, fixed sentences, professional studio) makes classes highly separable once a strong pretrained encoder is fine-tuned.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Speech Emotion Recognition — Fine-tuning Self-Supervised Audio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Harder Case — HuBERT-base on RAVDESS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6007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691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34948"/>
                </a:solidFill>
                <a:latin typeface="Calibri"/>
              </a:rPr>
              <a:t>F1-macro = 0.813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E34948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"neutral" is the dominant failure mode</a:t>
            </a:r>
          </a:p>
          <a:p>
            <a:pPr lvl="1"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898781"/>
                </a:solidFill>
                <a:latin typeface="Calibri"/>
              </a:rPr>
              <a:t>–  </a:t>
            </a:r>
            <a:r>
              <a:rPr sz="1250">
                <a:solidFill>
                  <a:srgbClr val="0B0B0B"/>
                </a:solidFill>
                <a:latin typeface="Calibri"/>
              </a:rPr>
              <a:t>Recall drops to 0.36 — only 5 of 14 neutral clips correctly identified</a:t>
            </a:r>
          </a:p>
          <a:p>
            <a:pPr lvl="1"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898781"/>
                </a:solidFill>
                <a:latin typeface="Calibri"/>
              </a:rPr>
              <a:t>–  </a:t>
            </a:r>
            <a:r>
              <a:rPr sz="1250">
                <a:solidFill>
                  <a:srgbClr val="0B0B0B"/>
                </a:solidFill>
                <a:latin typeface="Calibri"/>
              </a:rPr>
              <a:t>7 of 14 are misclassified as "calm" (precision for calm falls to 0.69)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E34948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"calm" and "neutral" are acoustically close: both low arousal, flat pitch contour — a distinction RAVDESS makes but EMO-DB (with no "calm" class) does not.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E34948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"sad" also leaks into "calm" (5 of 29 clips) — a broader low-arousal confusion cluster.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E34948"/>
                </a:solidFill>
                <a:latin typeface="Calibri"/>
              </a:rPr>
              <a:t>▪  </a:t>
            </a:r>
            <a:r>
              <a:rPr sz="1450">
                <a:solidFill>
                  <a:srgbClr val="0B0B0B"/>
                </a:solidFill>
                <a:latin typeface="Calibri"/>
              </a:rPr>
              <a:t>This same neutral/calm collapse recurs across most models on RAVDESS, suggesting it is a dataset-level ambiguity rather than a single model's weakness.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Speech Emotion Recognition — Fine-tuning Self-Supervised Audio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Takeaways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▪  </a:t>
            </a:r>
            <a:r>
              <a:rPr sz="1550">
                <a:solidFill>
                  <a:srgbClr val="0B0B0B"/>
                </a:solidFill>
                <a:latin typeface="Calibri"/>
              </a:rPr>
              <a:t>Fine-tuning self-supervised speech transformers is highly effective for emotion recognition — best models reach F1 ≈ 0.99 (EMO-DB) and ≈ 0.90 (RAVDESS).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▪  </a:t>
            </a:r>
            <a:r>
              <a:rPr sz="1550">
                <a:solidFill>
                  <a:srgbClr val="0B0B0B"/>
                </a:solidFill>
                <a:latin typeface="Calibri"/>
              </a:rPr>
              <a:t>WavLM-large is the most consistent backbone across both datasets.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▪  </a:t>
            </a:r>
            <a:r>
              <a:rPr sz="1550">
                <a:solidFill>
                  <a:srgbClr val="0B0B0B"/>
                </a:solidFill>
                <a:latin typeface="Calibri"/>
              </a:rPr>
              <a:t>Model scale alone doesn't predict performance — pretraining objective and robustness (e.g. WavLM's denoising pretraining) matter more than parameter count.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▪  </a:t>
            </a:r>
            <a:r>
              <a:rPr sz="1550">
                <a:solidFill>
                  <a:srgbClr val="0B0B0B"/>
                </a:solidFill>
                <a:latin typeface="Calibri"/>
              </a:rPr>
              <a:t>Dataset design directly shapes error patterns: RAVDESS's extra "calm" class creates a persistent neutral/calm confusion absent from EMO-DB.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103120"/>
            <a:ext cx="5257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1BAF7A"/>
                </a:solidFill>
                <a:latin typeface="Calibri"/>
              </a:rPr>
              <a:t>▪  </a:t>
            </a:r>
            <a:r>
              <a:rPr sz="1550">
                <a:solidFill>
                  <a:srgbClr val="0B0B0B"/>
                </a:solidFill>
                <a:latin typeface="Calibri"/>
              </a:rPr>
              <a:t>Cross-corpus evaluation: train on one dataset, test on the other, to measure generalization.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1BAF7A"/>
                </a:solidFill>
                <a:latin typeface="Calibri"/>
              </a:rPr>
              <a:t>▪  </a:t>
            </a:r>
            <a:r>
              <a:rPr sz="1550">
                <a:solidFill>
                  <a:srgbClr val="0B0B0B"/>
                </a:solidFill>
                <a:latin typeface="Calibri"/>
              </a:rPr>
              <a:t>Merge "calm" and "neutral" or add auxiliary arousal/valence labels to resolve the confusion cluster.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1BAF7A"/>
                </a:solidFill>
                <a:latin typeface="Calibri"/>
              </a:rPr>
              <a:t>▪  </a:t>
            </a:r>
            <a:r>
              <a:rPr sz="1550">
                <a:solidFill>
                  <a:srgbClr val="0B0B0B"/>
                </a:solidFill>
                <a:latin typeface="Calibri"/>
              </a:rPr>
              <a:t>Extend to CAMEO (multi-language, larger-scale) — already scaffolded in the pipeline config.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1BAF7A"/>
                </a:solidFill>
                <a:latin typeface="Calibri"/>
              </a:rPr>
              <a:t>▪  </a:t>
            </a:r>
            <a:r>
              <a:rPr sz="1550">
                <a:solidFill>
                  <a:srgbClr val="0B0B0B"/>
                </a:solidFill>
                <a:latin typeface="Calibri"/>
              </a:rPr>
              <a:t>Compare against the classical MFCC + 1D-CNN baseline for a fine-tuning-vs-classical-features ablation.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Speech Emotion Recognition — Fine-tuning Self-Supervised Audio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